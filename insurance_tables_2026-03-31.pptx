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Relationship Id="rId23" Type="http://schemas.openxmlformats.org/officeDocument/2006/relationships/slide" Target="slides/slide16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097280"/>
            <a:ext cx="8229600" cy="9144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Coverage by Treatment Type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2743200" y="1828800"/>
          <a:ext cx="3657600" cy="54864"/>
        </p:xfrm>
        <a:graphic>
          <a:graphicData uri="http://schemas.openxmlformats.org/drawingml/2006/table">
            <a:tbl>
              <a:tblPr/>
              <a:tblGrid>
                <a:gridCol w="3657600"/>
              </a:tblGrid>
              <a:tr h="36576">
                <a:tc>
                  <a:txBody>
                    <a:bodyPr/>
                    <a:lstStyle/>
                    <a:p>
                      <a:pPr algn="l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cap="none" sz="100" i="0" b="0" u="none" strike="noStrike">
                        <a:solidFill>
                          <a:srgbClr val="FA4616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00" i="0" b="0" u="none" strike="noStrike">
                          <a:solidFill>
                            <a:srgbClr val="FA461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A461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011680"/>
            <a:ext cx="8229600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Hodgkin Lymphoma Cohort — UF Health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2743200"/>
            <a:ext cx="8229600" cy="13716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Total Cohort: N = 8,770</a:t>
            </a:r>
          </a:p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Chemotherapy: N = 7,337</a:t>
            </a:r>
          </a:p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Radiation: N = 1,207</a:t>
            </a:r>
          </a:p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Stem Cell Transplant: N = 953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Coverage Overview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All enrolled patients — N = 8,770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2932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Primary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Diagnosis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647 (7.4%)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343 (3.9%)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3,161 (36%)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2,942 (33.5%)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809 (9.2%)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536 (6.1%)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1,941 (22.1%)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1,090 (12.4%)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100 (1.1%)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91 (1%)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211 (2.4%)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153 (1.7%)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1,901 (21.7%)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3,615 (41.2%)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7452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8,770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8,770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Post-Treatment Insurance — All Patients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treatment — N = 8,770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26874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Post-Treatment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269 (3.1%)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1,379 (15.7%)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480 (5.5%)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708 (8.1%)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 (0.4%)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97 (1.1%)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191 (2.2%)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5947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 (No Follow-up)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5,613 (64%)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7452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3,157 (36%)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Chemotherapy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at primary, first, and last chemotherapy — N = 7,337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2072640"/>
                <a:gridCol w="2072640"/>
                <a:gridCol w="2072640"/>
              </a:tblGrid>
              <a:tr h="32932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Primary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Chemo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Chemo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621 (8.5%)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495 (6.7%)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704 (9.6%)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2,574 (35.1%)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2,271 (31%)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1,810 (24.7%)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531 (7.2%)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305 (4.2%)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544 (7.4%)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1,787 (24.4%)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1,670 (22.8%)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1,464 (20%)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92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126 (1.7%)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99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195 (2.7%)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277 (3.8%)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233 (3.2%)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1,537 (20.9%)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2,193 (29.9%)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2,483 (33.8%)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7452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7,337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7,337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7,337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Chemotherapy Post-Treatment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chemotherapy — N = 7,337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26874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Post-Treatment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268 (3.7%)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1,398 (19.1%)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472 (6.4%)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709 (9.7%)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34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96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190 (2.6%)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5947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 (No Follow-up)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4,170 (56.8%)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7452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3,167 (43.2%)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Radiation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at primary, first, and last radiation — N = 1,207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2072640"/>
                <a:gridCol w="2072640"/>
                <a:gridCol w="2072640"/>
              </a:tblGrid>
              <a:tr h="32932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Primary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Radiation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Radiation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 (4.9%)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37 (3.1%)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40 (3.3%)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639 (52.9%)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590 (48.9%)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577 (47.8%)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114 (9.4%)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95 (7.9%)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105 (8.7%)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206 (17.1%)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126 (10.4%)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120 (9.9%)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 (0.7%)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 (0.8%)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 (0.7%)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18 (1.5%)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17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164 (13.6%)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331 (27.4%)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339 (28.1%)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7452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1,207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1,207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1,207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Radiation Post-Treatment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radiation — N = 1,207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26874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Post-Treatment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51 (4.2%)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521 (43.2%)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137 (11.4%)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122 (10.1%)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14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14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5947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 (No Follow-up)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342 (28.3%)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865 (71.7%)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Stem Cell Transplant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at primary, first, and last SCT — N = 953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2072640"/>
                <a:gridCol w="2072640"/>
                <a:gridCol w="2072640"/>
              </a:tblGrid>
              <a:tr h="32932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Primary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SCT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SCT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 (5.6%)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48 (5%)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52 (5.5%)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331 (34.7%)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281 (29.5%)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218 (22.9%)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 (5.6%)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45 (4.7%)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83 (8.7%)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249 (26.1%)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225 (23.6%)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194 (20.4%)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 (2.1%)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 (2.7%)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29 (3%)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236 (24.8%)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315 (33.1%)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366 (38.4%)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953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953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953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SCT Post-Treatment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SCT — N = 953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26874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Post-Treatment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56 (5.9%)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170 (17.8%)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66 (6.9%)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155 (16.3%)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 (0.7%)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 (2.7%)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27 (2.8%)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5947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 (No Follow-up)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446 (46.8%)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507 (53.2%)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Diagnosis — Insurance by Enrollment Coverage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at first HL diagnosis: patients with vs without enrollment covering ±30 day window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26874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ENR Covers Window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ENR Does Not Cover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108 (6.2%)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235 (3.3%)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596 (34.2%)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2,346 (33.4%)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221 (12.7%)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315 (4.5%)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244 (14%)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846 (12%)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 (1.1%)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72 (1%)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34 (2%)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119 (1.7%)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520 (29.9%)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3,095 (44%)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Payer Assigned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7452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1,742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7,028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Chemotherapy — Insurance by Enrollment Coverage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at first/last chemo: patients with vs without enrollment covering ±30 day window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28238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Chemo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Chemo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Chemo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Chemo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91 (5.9%)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404 (7%)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136 (7.7%)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568 (10.2%)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448 (29.2%)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1,823 (31.4%)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499 (28.2%)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1,311 (23.5%)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88 (5.7%)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217 (3.7%)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120 (6.8%)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424 (7.6%)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290 (18.9%)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1,380 (23.8%)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293 (16.6%)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1,171 (21%)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104 (1.8%)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 (0.9%)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83 (1.5%)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46 (3%)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231 (4%)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25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208 (3.7%)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547 (35.7%)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1,646 (28.4%)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680 (38.4%)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1,803 (32.4%)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Payer Assigned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7452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1,532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5,805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1,769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5,568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Radiation — Insurance by Enrollment Coverage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at first/last radiation: patients with vs without enrollment covering ±30 day window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28238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Radiation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Radiation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Radiation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Radiation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 (5.2%)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 (2%)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25 (6.1%)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 (1.9%)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156 (38.8%)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434 (53.9%)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155 (37.8%)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422 (52.9%)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36 (9%)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 (7.3%)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40 (9.8%)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65 (8.2%)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60 (14.9%)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66 (8.2%)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61 (14.9%)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 (7.4%)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 (1%)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 (0.7%)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 (0.8%)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 (2%)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 (1.7%)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119 (29.6%)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212 (26.3%)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119 (29%)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220 (27.6%)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Payer Assigned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402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805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410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797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SCT — Insurance by Enrollment Coverage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at first/last SCT: patients with vs without enrollment covering ±30 day window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28238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SCT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SCT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SCT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SCT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 (7.9%)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 (3.4%)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 (8.7%)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24 (3.8%)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60 (16.9%)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221 (37%)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44 (13.6%)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174 (27.6%)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 (3.4%)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 (5.5%)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 (5.9%)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64 (10.2%)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117 (32.9%)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108 (18.1%)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88 (27.2%)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106 (16.8%)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 (1.1%)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 (3.4%)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14 (2.3%)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 (4%)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 (2.5%)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122 (34.3%)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193 (32.3%)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127 (39.3%)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239 (37.9%)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Payer Assigned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356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597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323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630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Last Treatment = Last Encounter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Patients whose last treatment was within ±30 days of their last encounter (no follow-up)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2072640"/>
                <a:gridCol w="2072640"/>
                <a:gridCol w="2072640"/>
              </a:tblGrid>
              <a:tr h="328238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Treatment Type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 With Treatment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Tx = Last Encounter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Had Follow-up Encounters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13033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Any Treatment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7,384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3,063 (41.5%)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4,321 (58.5%)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Chemotherapy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7,302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2,956 (40.5%)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4,346 (59.5%)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Radiation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1,111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73 (6.6%)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1,038 (93.4%)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5947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Stem Cell Transplant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929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200 (21.5%)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729 (78.5%)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Missing Post-Treatment Payer — Encounter Breakdown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Patients with Missing post-treatment payer: how many encounters exist after last treatment?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26874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 Patients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1,965 (44.5%)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1-5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1,499 (33.9%)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6-10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348 (7.9%)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11-20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279 (6.3%)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21+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327 (7.4%)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7452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4,418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After Last Treatment — Dataset Retention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7,384 treated patients: 5,419 (73.4%) still in dataset, 1,965 (26.6%) no longer in dataset | 1,386 had no recorded treatment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2932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Still in Dataset (N=5,419)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Longer in Dataset (N=1,965)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269 (5%)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290 (14.8%)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1,379 (25.4%)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213 (10.8%)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480 (8.9%)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90 (4.6%)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708 (13.1%)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530 (27%)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 (0.6%)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42 (2.1%)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97 (1.8%)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79 (4%)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191 (3.5%)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721 (36.7%)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Payer Assigned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2,262 (41.7%)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7452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5,419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1,965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2057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Treatment Recorded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—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1,386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ggarvan</cp:lastModifiedBy>
  <cp:revision>3</cp:revision>
  <dcterms:created xsi:type="dcterms:W3CDTF">2017-02-13T16:18:36Z</dcterms:created>
  <dcterms:modified xsi:type="dcterms:W3CDTF">2026-03-31T19:25:40Z</dcterms:modified>
  <cp:category/>
</cp:coreProperties>
</file>