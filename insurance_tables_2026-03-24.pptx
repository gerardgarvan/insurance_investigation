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3087"/>
                </a:solidFill>
              </a:defRPr>
            </a:pPr>
            <a:r>
              <a:t>Insurance Coverage by Treatment 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657600" cy="36576"/>
          </a:xfrm>
          <a:prstGeom prst="rect">
            <a:avLst/>
          </a:prstGeom>
          <a:solidFill>
            <a:srgbClr val="FA4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33333"/>
                </a:solidFill>
              </a:defRPr>
            </a:pPr>
            <a:r>
              <a:t>Hodgkin Lymphoma Cohort — UF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Total Cohort: N = 8,770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Chemotherapy: N = 6,296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Radiation: N = 1,002</a:t>
            </a:r>
          </a:p>
          <a:p>
            <a:pPr algn="ctr">
              <a:defRPr sz="1400">
                <a:solidFill>
                  <a:srgbClr val="333333"/>
                </a:solidFill>
              </a:defRPr>
            </a:pPr>
            <a:r>
              <a:t>Stem Cell Transplant: N = 549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Insurance Coverage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All enrolled patients — N = 8,770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Insurance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Diagnosis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646 (7.4%)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378 (4.3%)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3164 (36.1%)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3045 (34.7%)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800 (9.1%)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554 (6.3%)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1944 (22.2%)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1169 (13.3%)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100 (1.1%)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104 (1.2%)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210 (2.4%)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145 (1.7%)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60 (0.7%)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 (0.3%)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188 (2.1%)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181 (2.1%)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1658 (18.9%)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3167 (36.1%)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Post-Treatment Insurance — All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Most prevalent payer after last treatment date — N = 8,770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Post-Treatment Insurance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380 (4.3%)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1111 (12.7%)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405 (4.6%)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862 (9.8%)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54 (0.6%)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142 (1.6%)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 (0.4%)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284 (3.2%)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3346 (38.2%)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N/A (No Treatment)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2152 (24.5%)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Chemotherapy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Insurance at primary, first, and last chemotherapy — N = 6,296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72640"/>
                <a:gridCol w="2072640"/>
                <a:gridCol w="2072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Insurance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Chemo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Chemo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618 (9.8%)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469 (7.4%)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688 (10.9%)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1724 (27.4%)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1213 (19.3%)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965 (15.3%)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372 (5.9%)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173 (2.7%)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324 (5.1%)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1777 (28.2%)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1522 (24.2%)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1468 (23.3%)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91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124 (2.0%)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106 (1.7%)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194 (3.1%)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278 (4.4%)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234 (3.7%)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52 (0.8%)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89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67 (1.1%)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168 (2.7%)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210 (3.3%)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265 (4.2%)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1300 (20.6%)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2218 (35.2%)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2179 (34.6%)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Chemotherapy Post-Treatment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Most prevalent payer after last treatment date — N = 6,296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Post-Treatment Insurance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380 (6.0%)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862 (13.7%)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345 (5.5%)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860 (13.7%)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54 (0.9%)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142 (2.3%)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 (0.5%)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284 (4.5%)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3335 (53.0%)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Radiation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Insurance at primary, first, and last radiation — N = 1,002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72640"/>
                <a:gridCol w="2072640"/>
                <a:gridCol w="2072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Insurance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Radiation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Radiation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42 (4.2%)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 (2.8%)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31 (3.1%)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561 (56.0%)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518 (51.7%)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511 (51.0%)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96 (9.6%)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81 (8.1%)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85 (8.5%)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127 (12.7%)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86 (8.6%)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84 (8.4%)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 (0.5%)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 (0.8%)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 (0.8%)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 (1.2%)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 (1.5%)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 (1.6%)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(0.1%)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(0.1%)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 (1.1%)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 (0.4%)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(0.3%)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147 (14.7%)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261 (26.0%)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264 (26.3%)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Radiation Post-Treatment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Most prevalent payer after last treatment date — N = 1,002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Post-Treatment Insurance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29 (2.9%)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398 (39.7%)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107 (10.7%)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62 (6.2%)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 (0.5%)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 (0.8%)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 (0.2%)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 (2.5%)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366 (36.5%)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Stem Cell Transplant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Insurance at primary, first, and last SCT — N = 549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72640"/>
                <a:gridCol w="2072640"/>
                <a:gridCol w="20726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Primary Insurance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SCT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SCT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30 (5.5%)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29 (5.3%)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29 (5.3%)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198 (36.1%)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168 (30.6%)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167 (30.4%)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 (2.9%)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19 (3.5%)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19 (3.5%)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153 (27.9%)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143 (26.0%)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143 (26.0%)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 (1.3%)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 (1.3%)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 (1.3%)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 (2.0%)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 (2.0%)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 (2.2%)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(0.5%)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(0.2%)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(0.2%)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 (0.7%)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127 (23.1%)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171 (31.1%)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171 (31.1%)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SCT Post-Treatment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Most prevalent payer after last treatment date — N = 549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Post-Treatment Insurance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 (4.9%)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82 (14.9%)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28 (5.1%)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56 (10.2%)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 (0.4%)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 (1.1%)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(0.5%)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 (4.7%)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319 (58.1%)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Diagnosis — Insurance by Enrollment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Payer at first HL diagnosis: patients with vs without enrollment covering ±30 day window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310896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ENR Covers Window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ENR Does Not Cover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155 (4.0%)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167 (4.3%)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1824 (47.3%)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1159 (30.1%)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491 (12.7%)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52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481 (12.5%)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568 (14.8%)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40 (1.0%)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57 (1.5%)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76 (2.0%)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66 (1.7%)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 (0.2%)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20 (0.5%)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87 (2.3%)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77 (2.0%)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695 (18.0%)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1682 (43.7%)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Chemotherapy — Insurance by Enrollment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Payer at first/last chemo: patients with vs without enrollment covering ±30 day window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Chemo ENR Covers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Chemo ENR Gap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Chemo ENR Covers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Chemo ENR Gap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171 (6.1%)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275 (7.9%)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267 (8.5%)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429 (13.6%)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886 (31.4%)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321 (9.3%)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781 (25.0%)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180 (5.7%)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162 (5.7%)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 (0.3%)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266 (8.5%)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55 (1.7%)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514 (18.2%)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964 (27.8%)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591 (18.9%)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870 (27.5%)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46 (1.6%)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 (2.1%)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34 (1.1%)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71 (2.2%)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116 (4.1%)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169 (4.9%)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72 (2.3%)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156 (4.9%)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40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49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40 (1.3%)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25 (0.8%)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80 (2.8%)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113 (3.3%)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105 (3.4%)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170 (5.4%)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811 (28.7%)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1496 (43.1%)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974 (31.1%)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1210 (38.2%)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Radiation — Insurance by Enrollment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Payer at first/last radiation: patients with vs without enrollment covering ±30 day window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Radiation ENR Covers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Radiation ENR Gap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Radiation ENR Covers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Radiation ENR Gap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22 (2.8%)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 (2.9%)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 (3.2%)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 (2.7%)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445 (55.8%)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 (35.8%)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445 (54.6%)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66 (35.3%)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76 (9.5%)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 (2.5%)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81 (9.9%)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 (2.1%)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62 (7.8%)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 (11.8%)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63 (7.7%)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21 (11.2%)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 (0.5%)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 (2.0%)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 (0.6%)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(1.6%)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 (1.1%)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 (2.9%)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10 (1.2%)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 (3.2%)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(0.1%)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 (0.3%)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 (1.0%)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(0.4%)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177 (22.2%)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84 (41.2%)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182 (22.3%)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82 (43.9%)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SCT — Insurance by Enrollment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Payer at first/last SCT: patients with vs without enrollment covering ±30 day window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32509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SCT ENR Covers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First SCT ENR Gap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SCT ENR Covers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Last SCT ENR Gap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Medicare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 (5.5%)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(4.1%)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26 (5.5%)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(4.2%)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Medicaid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161 (33.9%)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 (9.5%)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161 (33.8%)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 (8.3%)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Dual eligible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 (3.8%)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 (3.8%)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Private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125 (26.3%)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 (24.3%)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125 (26.2%)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18 (25.0%)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 government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 (1.5%)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 (1.5%)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Self-pay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 (1.7%)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(4.1%)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 (1.9%)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 (4.2%)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Other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 (1.4%)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Unavailable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Unknown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0 (0.0%)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3325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130 (27.4%)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41 (55.4%)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131 (27.5%)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40 (55.6%)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003087"/>
                </a:solidFill>
              </a:defRPr>
            </a:pPr>
            <a:r>
              <a:t>Unknown Post-Treatment Payer — Encounter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333333"/>
                </a:solidFill>
              </a:defRPr>
            </a:pPr>
            <a:r>
              <a:t>Patients with Unknown post-treatment payer: how many encounters exist after last treatment?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</a:tblGrid>
              <a:tr h="6096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Payer Category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N Patients</a:t>
                      </a:r>
                    </a:p>
                  </a:txBody>
                  <a:tcPr anchor="ctr">
                    <a:solidFill>
                      <a:srgbClr val="0030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3958 (68.9%)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1-5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792 (13.8%)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6-10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325 (5.7%)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11-20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273 (4.8%)</a:t>
                      </a:r>
                    </a:p>
                  </a:txBody>
                  <a:tcPr anchor="ctr" marL="73152" marR="73152" marT="36576" marB="36576">
                    <a:solidFill>
                      <a:srgbClr val="FDD9C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333333"/>
                          </a:solidFill>
                        </a:defRPr>
                      </a:pPr>
                      <a:r>
                        <a:t>21+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396 (6.9%)</a:t>
                      </a:r>
                    </a:p>
                  </a:txBody>
                  <a:tcPr anchor="ctr" marL="73152" marR="73152" marT="36576" marB="36576">
                    <a:solidFill>
                      <a:srgbClr val="CCD5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