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Relationship Id="rId30" Type="http://schemas.openxmlformats.org/officeDocument/2006/relationships/slide" Target="slides/slide23.xml"/>
<Relationship Id="rId31" Type="http://schemas.openxmlformats.org/officeDocument/2006/relationships/slide" Target="slides/slide24.xml"/>
<Relationship Id="rId32" Type="http://schemas.openxmlformats.org/officeDocument/2006/relationships/slide" Target="slides/slide25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4957063587b2aaee981f62cbf6726f6059e7d90d.png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ed98290aaea44cfaf77e5ddf4105ab380f52c93.png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ede55b283b9918b7a95b4b51f4844cc1905b4d2.png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53dd60f8724c7f5475778048a76cfc0b2d3342f.png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1e838093a71fcef5739fb0b649b21dc8f61c527.png"/>
</Relationships>

</file>

<file path=ppt/slides/_rels/slide2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57d2521078f2247e015d0d9aa6409d4328d0733.png"/>
</Relationships>

</file>

<file path=ppt/slides/_rels/slide2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5e0ab555c1d06680ae5dc657a5dc8a599efa0aa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Definitions and Glossary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005840"/>
            <a:ext cx="8229600" cy="5029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across all encounters for the patient.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First Diagnosis: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mode within ±30 days of first HL diagnosis date.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First Chemo / Radiation / SCT: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mode within ±30 day window of first treatment date for that treatment type.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Chemo / Radiation / SCT: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mode within ±30 day window of last treatment date for that treatment type.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of any type.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Missing: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Consolidation of Unknown, Unavailable, Other, and No Information payer categories.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 Payer Assigned: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 encounter with valid payer data found in the ±30 day window around the relevant date.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N/A (No Follow-up):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treatment encounter was the patient's final encounter in the dataset (±30 days).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N/A (No Treatment):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 had no recorded treatment of that type.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 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Covers Window: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 has enrollment records spanning the full ±30 day window around the event date.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Does Not Cover: </a:t>
            </a:r>
            <a:r>
              <a:rPr cap="none" sz="1400" i="0" b="0" u="none" strike="noStrike">
                <a:solidFill>
                  <a:srgbClr val="00000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Patient's enrollment records do not fully cover the ±30 day window.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Hodgkin Lymphoma Cohort -- N = 8,770 | Chemo: 7,337 | Radiation: 1,207 | SCT: 953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Coverage Overview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enrolled patients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5410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Diagnosis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647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343 (3.9%)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 (36%)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2,942 (33.5%)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809 (9.2%)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536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 (22.1%)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1,090 (12.4%)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100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211 (2.4%)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153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1,901 (21.7%)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3,615 (41.2%)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First Diagnosis = payer mode within ±30 days of first HL diagnosis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— All Patients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treatment —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(15.7%)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 (2.2%)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052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5,613 (64%)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3,157 (36%)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= most prevalent payer after last treatment of any type. N/A (No Follow-up) = last treatment was patient's final encounter (±30 days).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5410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621 (8.5%)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495 (6.7%)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704 (9.6%)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2,574 (35.1%)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2,271 (31%)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1,810 (24.7%)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531 (7.2%)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305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544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1,787 (24.4%)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1,670 (22.8%)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1,464 (20%)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99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195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277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233 (3.2%)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1,537 (20.9%)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2,193 (29.9%)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2,483 (33.8%)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7,337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First/Last Chemo = payer mode within ±30 days of first/last chemotherapy 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chemotherapy — N = 7,337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1,398 (19.1%)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472 (6.4%)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709 (9.7%)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190 (2.6%)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052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4,170 (56.8%)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3,167 (43.2%)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= most prevalent payer after last chemotherapy. N/A (No Follow-up) = last chemo was patient's final encounter (±30 days).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5410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 (3.1%)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639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590 (48.9%)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577 (47.8%)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114 (9.4%)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105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206 (17.1%)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 (10.4%)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164 (13.6%)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(27.4%)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339 (28.1%)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1,207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First/Last Radiation = payer mode within ±30 days of first/last radiation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radiation — N = 1,207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 (4.2%)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521 (43.2%)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137 (11.4%)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122 (10.1%)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052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342 (28.3%)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865 (71.7%)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= most prevalent payer after last radiation. N/A (No Follow-up) = last radiation was patient's final encounter (±30 days).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Stem Cell Transplant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at primary, first, and last SCT — N = 953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5410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Primary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331 (34.7%)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281 (29.5%)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218 (22.9%)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 (5.6%)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45 (4.7%)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249 (26.1%)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225 (23.6%)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194 (20.4%)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236 (24.8%)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(33.1%)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366 (38.4%)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First/Last SCT = payer mode within ±30 days of first/last stem cell transplant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Post-Treatment Insurance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prevalent payer after last SCT — N = 953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Post-Treatment Insurance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170 (17.8%)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(16.3%)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 (2.7%)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 (2.8%)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052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N/A (No Follow-up)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446 (46.8%)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507 (53.2%)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Insurance = most prevalent payer after last SCT. N/A (No Follow-up) = last SCT was patient's final encounter (±30 days).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Diagnosis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 HL diagnosis: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Covers Window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ENR Does Not Cover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(6.2%)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235 (3.3%)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596 (34.2%)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2,346 (33.4%)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(12.7%)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315 (4.5%)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244 (14%)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846 (12%)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520 (29.9%)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3,095 (44%)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1,742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7,028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Covers Window = enrollment records span the full ±30 day window around first HL diagnosis. ENR Does Not Cover = enrollment gap in that window.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Chemotherapy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chemo: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5281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Chemo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404 (7%)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136 (7.7%)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568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448 (29.2%)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1,823 (31.4%)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499 (28.2%)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1,311 (23.5%)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217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120 (6.8%)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424 (7.6%)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1,380 (23.8%)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293 (16.6%)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1,171 (21%)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104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(0.9%)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83 (1.5%)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46 (3%)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231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208 (3.7%)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547 (35.7%)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1,646 (28.4%)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680 (38.4%)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1,803 (32.4%)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1,532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5,805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1,769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5,568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Covers = enrollment records span the full ±30 day window around first/last chemotherapy. ENR Gap = enrollment gap in that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Radiation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radiation: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5281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Radiation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 (5.2%)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 (6.1%)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 (1.9%)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156 (38.8%)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434 (53.9%)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155 (37.8%)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422 (52.9%)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36 (9%)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 (9.8%)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 (8.2%)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61 (14.9%)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 (0.5%)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 (0.7%)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 (0.8%)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(29.6%)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212 (26.3%)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119 (29%)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220 (27.6%)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402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410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797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Covers = enrollment records span the full ±30 day window around first/last radiation. ENR Gap = enrollment gap in that window.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SCT — Insurance by Enrollment Coverage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Payer at first/last SCT: patients with vs without enrollment covering ±30 day window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5281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First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Covers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SCT ENR Gap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28 (8.7%)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 (3.8%)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60 (16.9%)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221 (37%)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 (13.6%)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174 (27.6%)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(5.5%)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 (5.9%)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 (10.2%)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 (32.9%)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108 (18.1%)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88 (27.2%)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106 (16.8%)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 (1.4%)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 (1.3%)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 (1.2%)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 (1.1%)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 (3.4%)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 (2.3%)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 (2.5%)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122 (34.3%)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193 (32.3%)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127 (39.3%)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239 (37.9%)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356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597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323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630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ENR Covers = enrollment records span the full ±30 day window around first/last SCT. ENR Gap = enrollment gap in that window.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Treatment = Last Encounter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whose last treatment was within ±30 days of their last encounter (no follow-up)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2072640"/>
                <a:gridCol w="2072640"/>
                <a:gridCol w="2072640"/>
              </a:tblGrid>
              <a:tr h="35281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Treatment Type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With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Last Tx = Last Encounter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Had Follow-up Encounters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3703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Any Treatment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7,384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3,063 (41.5%)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4,321 (58.5%)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Chemotherapy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7,302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2,956 (40.5%)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4,346 (59.5%)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Radiation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1,111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73 (6.6%)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1,038 (93.4%)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052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Stem Cell Transplant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929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200 (21.5%)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729 (78.5%)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Last Tx = Last Encounter: patient's last treatment date is within ±30 days of their last encounter date in the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Missing Post-Treatment Payer — Encounter Breakdown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Patients with Missing post-treatment payer: how many encounters exist after last treatment?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 Patients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(44.5%)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1-5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1,499 (33.9%)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6-10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348 (7.9%)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11-20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279 (6.3%)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21+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327 (7.4%)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4,418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Shows how many post-treatment encounters exist for patients whose post-treatment payer is Missing or unassigned.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Insurance After Last Treatment — Dataset Retention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7,384 treated patients: 5,419 (73.4%) still in dataset, 1,965 (26.6%) no longer in dataset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54109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Still in Dataset (N=5,419)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Longer in Dataset (N=1,965)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269 (5%)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290 (14.8%)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1,379 (25.4%)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213 (10.8%)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480 (8.9%)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90 (4.6%)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8771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708 (13.1%)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530 (27%)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 (0.6%)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 (2.1%)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97 (1.8%)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79 (4%)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 (3.5%)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721 (36.7%)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Payer Assigned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2,262 (41.7%)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 (0%)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3033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5,419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1,965 (100%)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Still in Dataset = patient has encounters after last treatment. No Longer in Dataset = last treatment was final encounter (±30 days). Payer shown is post-treatment (still) or at last treatment (no longer).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Encounters per Person by Payer Category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Distribution of total encounter counts by primary payer -- N = 8,770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Payer categories consolidated to 6 + Missing.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Summary Statistics: Encounters per Person by Payer Category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Distribution of total encounter counts by primary insurance category --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Mean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Median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Q1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Q3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Max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500+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809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447.7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473.0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8,631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386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325.2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78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385.0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8,836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569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386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647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117.3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139.0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1,335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1,901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117.4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154.0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1,161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58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211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66.4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80.5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676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100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58.2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77.5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387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386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77.3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18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95.0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1,085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780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212.0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243.0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8,836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856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Primary Insurance = most prevalent payer across all encounters. 500+ = patients with more than 500 total encounters.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Mean Post-Treatment Encounters by Year of Diagnosis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Non-acute care encounters per person after last treatment, stratified by HL diagnosis year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Mean Total Encounters by Year of Diagnosis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encounters per person across the full observation window, stratified by HL diagnosis year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Post-Treatment Encounter Presence by Age Group at Diagnosis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Proportion with any post-treatment encounter by age group (0-17, 18-39, 40-64, 65+)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Age group determined at date of first HL diagnosis. Post-treatment = any encounter after last treatment of any type.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Unique Encounter Dates per Person by Payer Category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Distribution of distinct encounter dates by primary payer -- N = 8,770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Unique dates = distinct ADMIT_DATEs per patient. Multiple encounters on the same day count as one date.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Summary Statistics: Unique Dates per Person by Payer Category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Distribution of distinct encounter dates by primary insurance category -- N = 8,770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457200" y="1280160"/>
          <a:ext cx="822960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351207"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Payer Category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Mean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Median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Min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Q1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Q3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Max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3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300+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Dual eligible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809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262.0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291.0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3,920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386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Medicaid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3,161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144.2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41.0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175.0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2,467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342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10986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Medicare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647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75.7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17.5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91.5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671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Missing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1,901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66.8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13.0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85.0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No payment / Self-pay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211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39.7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48.5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483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41719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Other government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  100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38.3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26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50.0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DD9CC">
                        <a:alpha val="100000"/>
                      </a:srgbClr>
                    </a:solidFill>
                  </a:tcPr>
                </a:tc>
              </a:tr>
              <a:tr h="323860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Private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1,941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51.7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14.0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63.0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0" u="none" strike="noStrike">
                          <a:solidFill>
                            <a:srgbClr val="333333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CD5EA">
                        <a:alpha val="100000"/>
                      </a:srgbClr>
                    </a:solidFill>
                  </a:tcPr>
                </a:tc>
              </a:tr>
              <a:tr h="327804">
                <a:tc>
                  <a:txBody>
                    <a:bodyPr/>
                    <a:lstStyle/>
                    <a:p>
                      <a:pPr algn="l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Total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8,770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109.0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126.0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3,920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0" marR="762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cap="none" sz="12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640</a:t>
                      </a:r>
                    </a:p>
                  </a:txBody>
                  <a:tcPr anchor="ctr" marB="38100" marT="381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630936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66666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Unique dates = distinct ADMIT_DATEs per patient. 300+ = patients with more than 300 unique encounter dates.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Mean Post-Treatment Unique Dates by Year of Diagnosis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Distinct encounter dates per person after last treatment, stratified by HL diagnosis year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82880"/>
            <a:ext cx="82296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00308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Mean Total Unique Dates by Year of Diagnosis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777240"/>
            <a:ext cx="82296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1" b="0" u="none" strike="noStrike">
                <a:solidFill>
                  <a:srgbClr val="333333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Distinct encounter dates per person across the full observation window, stratified by HL diagnosis year</a:t>
            </a:r>
          </a:p>
        </p:txBody>
      </p:sp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85800" y="1280160"/>
            <a:ext cx="7772400" cy="4572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ggarvan</cp:lastModifiedBy>
  <cp:revision>3</cp:revision>
  <dcterms:created xsi:type="dcterms:W3CDTF">2017-02-13T16:18:36Z</dcterms:created>
  <dcterms:modified xsi:type="dcterms:W3CDTF">2026-04-01T14:06:11Z</dcterms:modified>
  <cp:category/>
</cp:coreProperties>
</file>